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68" r:id="rId2"/>
    <p:sldId id="498" r:id="rId3"/>
    <p:sldId id="502" r:id="rId4"/>
    <p:sldId id="500" r:id="rId5"/>
    <p:sldId id="499" r:id="rId6"/>
    <p:sldId id="501" r:id="rId7"/>
    <p:sldId id="505" r:id="rId8"/>
    <p:sldId id="508" r:id="rId9"/>
    <p:sldId id="506" r:id="rId10"/>
    <p:sldId id="511" r:id="rId11"/>
    <p:sldId id="509" r:id="rId12"/>
    <p:sldId id="510" r:id="rId13"/>
    <p:sldId id="264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C045BB-B066-8AEF-B3B9-CF6A2417C89F}" v="140" dt="2026-03-04T21:10:17.174"/>
    <p1510:client id="{D9A5A6F1-596C-4FCA-928A-B733E64FCBD3}" v="196" dt="2026-03-04T20:56:43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1412" autoAdjust="0"/>
  </p:normalViewPr>
  <p:slideViewPr>
    <p:cSldViewPr snapToGrid="0">
      <p:cViewPr>
        <p:scale>
          <a:sx n="66" d="100"/>
          <a:sy n="66" d="100"/>
        </p:scale>
        <p:origin x="804" y="-1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520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898145" y="2483743"/>
            <a:ext cx="10084382" cy="22775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LOGISTICARGO SYSTEM</a:t>
            </a:r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 </a:t>
            </a:r>
          </a:p>
          <a:p>
            <a:r>
              <a:rPr lang="es-419" sz="4400" dirty="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Sistema empresarial para la gestión y control integral de operaciones logísticas.</a:t>
            </a:r>
            <a:endParaRPr lang="es-ES" sz="4400" dirty="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6D04A5A-19A9-0ACE-6D0F-5E02EDC9D1DE}"/>
              </a:ext>
            </a:extLst>
          </p:cNvPr>
          <p:cNvSpPr txBox="1"/>
          <p:nvPr/>
        </p:nvSpPr>
        <p:spPr>
          <a:xfrm>
            <a:off x="1258778" y="2228671"/>
            <a:ext cx="9674443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6000" b="1" dirty="0">
                <a:latin typeface="Arial"/>
                <a:ea typeface="+mn-lt"/>
                <a:cs typeface="+mn-lt"/>
              </a:rPr>
              <a:t>LOGISTICARGO SYSTEM</a:t>
            </a:r>
            <a:r>
              <a:rPr lang="es-CO" sz="6000" dirty="0">
                <a:ea typeface="+mn-lt"/>
                <a:cs typeface="+mn-lt"/>
              </a:rPr>
              <a:t> </a:t>
            </a:r>
            <a:endParaRPr lang="en-US" sz="6000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2E6F1CF-C64D-CB82-1478-686F9F9BAF5F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8E8D743B-5DCD-448D-B150-E756BDE34EF3}"/>
              </a:ext>
            </a:extLst>
          </p:cNvPr>
          <p:cNvSpPr/>
          <p:nvPr/>
        </p:nvSpPr>
        <p:spPr>
          <a:xfrm>
            <a:off x="10972800" y="252919"/>
            <a:ext cx="1050587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7BADCCE-29A8-4B95-B14B-B87FDB47CBC6}"/>
              </a:ext>
            </a:extLst>
          </p:cNvPr>
          <p:cNvSpPr txBox="1"/>
          <p:nvPr/>
        </p:nvSpPr>
        <p:spPr>
          <a:xfrm>
            <a:off x="5006049" y="3399535"/>
            <a:ext cx="2179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1800" dirty="0">
                <a:latin typeface="Arial"/>
                <a:ea typeface="+mn-lt"/>
                <a:cs typeface="Arial"/>
              </a:rPr>
              <a:t>Mudanzas Sharon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3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Arial"/>
                <a:ea typeface="+mj-lt"/>
                <a:cs typeface="+mj-lt"/>
              </a:rPr>
              <a:t>Planteamiento del problema</a:t>
            </a:r>
            <a:endParaRPr lang="en-US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A5D40F-5130-174A-6A34-F1ED4C65F970}"/>
              </a:ext>
            </a:extLst>
          </p:cNvPr>
          <p:cNvSpPr txBox="1"/>
          <p:nvPr/>
        </p:nvSpPr>
        <p:spPr>
          <a:xfrm>
            <a:off x="706760" y="1697620"/>
            <a:ext cx="10778479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419" sz="2000" dirty="0">
              <a:latin typeface="Arial"/>
              <a:ea typeface="Calibri"/>
              <a:cs typeface="Arial"/>
            </a:endParaRPr>
          </a:p>
          <a:p>
            <a:r>
              <a:rPr lang="es-419" sz="2000" dirty="0">
                <a:latin typeface="Arial"/>
                <a:ea typeface="+mn-lt"/>
                <a:cs typeface="Arial"/>
              </a:rPr>
              <a:t>Mudanzas Sharon actualmente gestiona los servicios de mudanza mediante registros manuales y comunicación directa entre los involucrados. Aunque este método ha permitido sostener la operación durante un tiempo determinado, el incremento en la demanda ha generado desorganización en la programación de traslados y dificultades en la asignación de vehículos y personal.</a:t>
            </a:r>
          </a:p>
          <a:p>
            <a:endParaRPr lang="es-419" sz="2000" dirty="0">
              <a:latin typeface="Arial"/>
              <a:ea typeface="Calibri"/>
              <a:cs typeface="Arial"/>
            </a:endParaRPr>
          </a:p>
          <a:p>
            <a:r>
              <a:rPr lang="es-419" sz="2000" dirty="0">
                <a:latin typeface="Arial"/>
                <a:ea typeface="+mn-lt"/>
                <a:cs typeface="Arial"/>
              </a:rPr>
              <a:t>La falta de una coordinación estructurada ha ocasionado retrasos en algunos servicios, inconsistencias en la disponibilidad de recursos y dificultades para conocer en tiempo real el estado de cada traslado. Esta situación limita la capacidad de control operativo y afecta la eficiencia en la prestación del servicio.</a:t>
            </a:r>
          </a:p>
          <a:p>
            <a:endParaRPr lang="es-419" sz="2000" dirty="0">
              <a:latin typeface="Arial"/>
              <a:ea typeface="Calibri"/>
              <a:cs typeface="Arial"/>
            </a:endParaRPr>
          </a:p>
          <a:p>
            <a:r>
              <a:rPr lang="es-419" sz="2000" dirty="0">
                <a:latin typeface="Arial"/>
                <a:ea typeface="+mn-lt"/>
                <a:cs typeface="Arial"/>
              </a:rPr>
              <a:t>El crecimiento de la operación evidencia la necesidad de optimizar la gestión interna para garantizar una mejor planificación, seguimiento y control de los servicios realizados</a:t>
            </a:r>
            <a:endParaRPr lang="es-419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bg1"/>
                </a:solidFill>
                <a:latin typeface="Arial"/>
                <a:ea typeface="+mj-lt"/>
                <a:cs typeface="+mj-lt"/>
              </a:rPr>
              <a:t>Pregunta problema</a:t>
            </a:r>
            <a:endParaRPr lang="en-US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AE133-6BD4-4558-FE08-1F8BF31E0993}"/>
              </a:ext>
            </a:extLst>
          </p:cNvPr>
          <p:cNvSpPr txBox="1"/>
          <p:nvPr/>
        </p:nvSpPr>
        <p:spPr>
          <a:xfrm>
            <a:off x="264943" y="1438738"/>
            <a:ext cx="11470821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endParaRPr lang="en-US" sz="3200" dirty="0">
              <a:latin typeface="Arial"/>
              <a:ea typeface="Calibri"/>
              <a:cs typeface="Arial"/>
            </a:endParaRPr>
          </a:p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¿Cómo optimizar la coordinación de los servicios de mudanza mediante un sistema centralizado que integre la programación, asignación de recursos y seguimiento operativo en tiempo real?</a:t>
            </a:r>
            <a:endParaRPr lang="es-419" sz="2800" noProof="1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05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B4A3DA5-3365-4A82-95A1-B79A8C248595}"/>
              </a:ext>
            </a:extLst>
          </p:cNvPr>
          <p:cNvSpPr/>
          <p:nvPr/>
        </p:nvSpPr>
        <p:spPr>
          <a:xfrm>
            <a:off x="10972800" y="252919"/>
            <a:ext cx="1050587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416869" y="1411840"/>
            <a:ext cx="5371088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dirty="0">
                <a:latin typeface="Arial"/>
                <a:ea typeface="+mn-lt"/>
                <a:cs typeface="Arial"/>
              </a:rPr>
              <a:t> </a:t>
            </a:r>
            <a:endParaRPr lang="es-CO" sz="1600">
              <a:latin typeface="Calibri"/>
              <a:ea typeface="+mn-lt"/>
              <a:cs typeface="Calibri"/>
            </a:endParaRPr>
          </a:p>
          <a:p>
            <a:r>
              <a:rPr lang="es-CO" sz="2800" dirty="0">
                <a:latin typeface="Arial"/>
                <a:ea typeface="+mn-lt"/>
                <a:cs typeface="Arial"/>
              </a:rPr>
              <a:t>Desarrollar un sistema de información para la gestión logística integral de servicios de mudanza, que permita planificar, organizar, ejecutar y controlar las operaciones relacionadas con la administración de usuarios, recursos, programación de servicios, asignación operativa, seguimiento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319592" y="497470"/>
            <a:ext cx="4256397" cy="102203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 b="1" dirty="0">
                <a:solidFill>
                  <a:srgbClr val="38AA00"/>
                </a:solidFill>
                <a:highlight>
                  <a:srgbClr val="F0F4F9"/>
                </a:highlight>
                <a:ea typeface="+mj-lt"/>
                <a:cs typeface="+mj-lt"/>
              </a:rPr>
              <a:t>Objetivo</a:t>
            </a:r>
            <a:r>
              <a:rPr lang="es-CO" sz="4800" b="1" dirty="0">
                <a:solidFill>
                  <a:srgbClr val="1F1F1F"/>
                </a:solidFill>
                <a:highlight>
                  <a:srgbClr val="F0F4F9"/>
                </a:highlight>
                <a:ea typeface="+mj-lt"/>
                <a:cs typeface="+mj-lt"/>
              </a:rPr>
              <a:t> </a:t>
            </a:r>
            <a:r>
              <a:rPr lang="es-CO" sz="4800" b="1" dirty="0">
                <a:solidFill>
                  <a:srgbClr val="38AA00"/>
                </a:solidFill>
                <a:highlight>
                  <a:srgbClr val="F0F4F9"/>
                </a:highlight>
                <a:ea typeface="+mj-lt"/>
                <a:cs typeface="+mj-lt"/>
              </a:rPr>
              <a:t>general</a:t>
            </a:r>
            <a:endParaRPr lang="en-US" sz="4800" b="1" dirty="0">
              <a:solidFill>
                <a:srgbClr val="38AA00"/>
              </a:solidFill>
              <a:ea typeface="Calibri Light"/>
              <a:cs typeface="Calibri Ligh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A04427B-D6A1-45D1-AF15-A983A915B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11941"/>
            <a:ext cx="5776408" cy="577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264800" y="329386"/>
            <a:ext cx="10515600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 dirty="0">
                <a:solidFill>
                  <a:srgbClr val="38AA00"/>
                </a:solidFill>
                <a:highlight>
                  <a:srgbClr val="F0F4F9"/>
                </a:highlight>
                <a:latin typeface="Arial"/>
                <a:ea typeface="+mj-lt"/>
                <a:cs typeface="+mj-lt"/>
              </a:rPr>
              <a:t>Objetivos especí­ficos</a:t>
            </a:r>
            <a:endParaRPr lang="en-US" sz="4800" dirty="0">
              <a:solidFill>
                <a:srgbClr val="38AA00"/>
              </a:solidFill>
              <a:latin typeface="Arial"/>
              <a:cs typeface="Arial"/>
            </a:endParaRPr>
          </a:p>
          <a:p>
            <a:endParaRPr lang="es-CO" dirty="0">
              <a:solidFill>
                <a:schemeClr val="tx1">
                  <a:lumMod val="95000"/>
                  <a:lumOff val="5000"/>
                </a:schemeClr>
              </a:solidFill>
              <a:latin typeface="Work Sa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6F6F4-086A-03D0-F167-F84EFDBA2374}"/>
              </a:ext>
            </a:extLst>
          </p:cNvPr>
          <p:cNvSpPr txBox="1"/>
          <p:nvPr/>
        </p:nvSpPr>
        <p:spPr>
          <a:xfrm>
            <a:off x="529389" y="1351508"/>
            <a:ext cx="11133222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dirty="0">
                <a:latin typeface="Arial"/>
                <a:ea typeface="+mn-lt"/>
                <a:cs typeface="Arial"/>
              </a:rPr>
              <a:t>1. Gestionar el registro y validación de usuarios garantizando el control de acceso según el rol asignado dentro del sistema.</a:t>
            </a:r>
          </a:p>
          <a:p>
            <a:endParaRPr lang="es-ES" sz="2000" dirty="0">
              <a:latin typeface="Arial"/>
              <a:ea typeface="+mn-lt"/>
              <a:cs typeface="Arial"/>
            </a:endParaRPr>
          </a:p>
          <a:p>
            <a:r>
              <a:rPr lang="es-ES" sz="2000" dirty="0">
                <a:latin typeface="Arial"/>
                <a:ea typeface="+mn-lt"/>
                <a:cs typeface="Arial"/>
              </a:rPr>
              <a:t>2. Automatizar el proceso de cotización mediante el análisis de variables como distancia, volumen y recursos requeridos.</a:t>
            </a:r>
          </a:p>
          <a:p>
            <a:endParaRPr lang="es-ES" sz="2000" dirty="0">
              <a:latin typeface="Arial"/>
              <a:ea typeface="+mn-lt"/>
              <a:cs typeface="Arial"/>
            </a:endParaRPr>
          </a:p>
          <a:p>
            <a:r>
              <a:rPr lang="es-ES" sz="2000" dirty="0">
                <a:latin typeface="Arial"/>
                <a:ea typeface="+mn-lt"/>
                <a:cs typeface="Arial"/>
              </a:rPr>
              <a:t>3. Administrar la programación y asignación de recursos logísticos validando la disponibilidad, capacidad y coherencia con los requerimientos del traslado.</a:t>
            </a:r>
          </a:p>
          <a:p>
            <a:endParaRPr lang="es-ES" sz="2000" dirty="0">
              <a:latin typeface="Arial"/>
              <a:ea typeface="+mn-lt"/>
              <a:cs typeface="Arial"/>
            </a:endParaRPr>
          </a:p>
          <a:p>
            <a:r>
              <a:rPr lang="es-ES" sz="2000" dirty="0">
                <a:latin typeface="Arial"/>
                <a:ea typeface="+mn-lt"/>
                <a:cs typeface="Arial"/>
              </a:rPr>
              <a:t>4. Controlar el seguimiento del servicio mediante la actualización de estados y registro de tiempos operativos.</a:t>
            </a:r>
          </a:p>
          <a:p>
            <a:endParaRPr lang="es-ES" sz="2000" dirty="0">
              <a:latin typeface="Arial"/>
              <a:ea typeface="+mn-lt"/>
              <a:cs typeface="Arial"/>
            </a:endParaRPr>
          </a:p>
          <a:p>
            <a:r>
              <a:rPr lang="es-ES" sz="2000" dirty="0">
                <a:latin typeface="Arial"/>
                <a:ea typeface="+mn-lt"/>
                <a:cs typeface="Arial"/>
              </a:rPr>
              <a:t>5. Generar reportes de disponibilidad, ejecución y desempeño que permitan la supervisión de las operaciones logísticas.</a:t>
            </a:r>
          </a:p>
        </p:txBody>
      </p:sp>
    </p:spTree>
    <p:extLst>
      <p:ext uri="{BB962C8B-B14F-4D97-AF65-F5344CB8AC3E}">
        <p14:creationId xmlns:p14="http://schemas.microsoft.com/office/powerpoint/2010/main" val="150040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F502-9255-42FE-1EF8-9CB24959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437" y="417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  <a:latin typeface="Arial"/>
                <a:ea typeface="+mj-lt"/>
                <a:cs typeface="+mj-lt"/>
              </a:rPr>
              <a:t>Justificación</a:t>
            </a:r>
            <a:endParaRPr lang="en-US" sz="480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B0791-19AC-3003-5E66-A781DF359D33}"/>
              </a:ext>
            </a:extLst>
          </p:cNvPr>
          <p:cNvSpPr txBox="1"/>
          <p:nvPr/>
        </p:nvSpPr>
        <p:spPr>
          <a:xfrm>
            <a:off x="692818" y="2209005"/>
            <a:ext cx="1080636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s-419" sz="2000" dirty="0">
              <a:latin typeface="Arial"/>
              <a:cs typeface="Arial"/>
            </a:endParaRPr>
          </a:p>
          <a:p>
            <a:r>
              <a:rPr lang="es-419" sz="2000" dirty="0">
                <a:latin typeface="Arial"/>
                <a:ea typeface="+mn-lt"/>
                <a:cs typeface="Arial"/>
              </a:rPr>
              <a:t>La transición de registros manuales a un sistema digital es necesaria para eliminar la desorganización y los retrasos causados por el aumento de la demanda. LOGISTICARGO SYSTEM permitirá centralizar la información, reducir errores humanos y garantizar una coordinación eficiente entre vehículos, personal y clientes. Con esta herramienta, la empresa fortalece su capacidad de planificación y supervisión diaria, mejorando la calidad operativa del servicio.</a:t>
            </a:r>
            <a:endParaRPr lang="es-419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69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75B42-317B-6F1B-8530-C814ED082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51" y="191995"/>
            <a:ext cx="13519484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MODULOS </a:t>
            </a:r>
            <a:br>
              <a:rPr lang="es-CO" dirty="0"/>
            </a:br>
            <a:br>
              <a:rPr lang="en-US" sz="4400" dirty="0"/>
            </a:br>
            <a:endParaRPr lang="es-C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DD06F-3EE1-C762-34E8-1EC0900C647A}"/>
              </a:ext>
            </a:extLst>
          </p:cNvPr>
          <p:cNvSpPr txBox="1"/>
          <p:nvPr/>
        </p:nvSpPr>
        <p:spPr>
          <a:xfrm>
            <a:off x="793135" y="1517558"/>
            <a:ext cx="10099040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latin typeface="Arial"/>
              <a:ea typeface="Calibri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Arial"/>
              </a:rPr>
              <a:t>1. </a:t>
            </a:r>
            <a:r>
              <a:rPr lang="en-US" sz="2000" dirty="0" err="1">
                <a:latin typeface="Arial"/>
                <a:ea typeface="+mn-lt"/>
                <a:cs typeface="Arial"/>
              </a:rPr>
              <a:t>Gestión</a:t>
            </a:r>
            <a:r>
              <a:rPr lang="en-US" sz="2000" dirty="0">
                <a:latin typeface="Arial"/>
                <a:ea typeface="+mn-lt"/>
                <a:cs typeface="Arial"/>
              </a:rPr>
              <a:t> de </a:t>
            </a:r>
            <a:r>
              <a:rPr lang="en-US" sz="2000" dirty="0" err="1">
                <a:latin typeface="Arial"/>
                <a:ea typeface="+mn-lt"/>
                <a:cs typeface="Arial"/>
              </a:rPr>
              <a:t>Usuarios</a:t>
            </a:r>
            <a:r>
              <a:rPr lang="en-US" sz="2000" dirty="0">
                <a:latin typeface="Arial"/>
                <a:ea typeface="+mn-lt"/>
                <a:cs typeface="Arial"/>
              </a:rPr>
              <a:t> y Control de </a:t>
            </a:r>
            <a:r>
              <a:rPr lang="en-US" sz="2000" dirty="0" err="1">
                <a:latin typeface="Arial"/>
                <a:ea typeface="+mn-lt"/>
                <a:cs typeface="Arial"/>
              </a:rPr>
              <a:t>Acceso</a:t>
            </a:r>
            <a:endParaRPr lang="en-US" sz="2000" dirty="0">
              <a:latin typeface="Arial"/>
              <a:ea typeface="+mn-lt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Arial"/>
              </a:rPr>
              <a:t>Administración de </a:t>
            </a:r>
            <a:r>
              <a:rPr lang="en-US" sz="2000" dirty="0" err="1">
                <a:latin typeface="Arial"/>
                <a:ea typeface="+mn-lt"/>
                <a:cs typeface="Arial"/>
              </a:rPr>
              <a:t>cuentas</a:t>
            </a:r>
            <a:r>
              <a:rPr lang="en-US" sz="2000" dirty="0">
                <a:latin typeface="Arial"/>
                <a:ea typeface="+mn-lt"/>
                <a:cs typeface="Arial"/>
              </a:rPr>
              <a:t> y roles para </a:t>
            </a:r>
            <a:r>
              <a:rPr lang="en-US" sz="2000" dirty="0" err="1">
                <a:latin typeface="Arial"/>
                <a:ea typeface="+mn-lt"/>
                <a:cs typeface="Arial"/>
              </a:rPr>
              <a:t>el</a:t>
            </a:r>
            <a:r>
              <a:rPr lang="en-US" sz="2000" dirty="0">
                <a:latin typeface="Arial"/>
                <a:ea typeface="+mn-lt"/>
                <a:cs typeface="Arial"/>
              </a:rPr>
              <a:t> </a:t>
            </a:r>
            <a:r>
              <a:rPr lang="en-US" sz="2000" dirty="0" err="1">
                <a:latin typeface="Arial"/>
                <a:ea typeface="+mn-lt"/>
                <a:cs typeface="Arial"/>
              </a:rPr>
              <a:t>uso</a:t>
            </a:r>
            <a:r>
              <a:rPr lang="en-US" sz="2000" dirty="0">
                <a:latin typeface="Arial"/>
                <a:ea typeface="+mn-lt"/>
                <a:cs typeface="Arial"/>
              </a:rPr>
              <a:t> del </a:t>
            </a:r>
            <a:r>
              <a:rPr lang="en-US" sz="2000" dirty="0" err="1">
                <a:latin typeface="Arial"/>
                <a:ea typeface="+mn-lt"/>
                <a:cs typeface="Arial"/>
              </a:rPr>
              <a:t>sistema</a:t>
            </a:r>
            <a:r>
              <a:rPr lang="en-US" sz="2000" dirty="0">
                <a:latin typeface="Arial"/>
                <a:ea typeface="+mn-lt"/>
                <a:cs typeface="Arial"/>
              </a:rPr>
              <a:t>.</a:t>
            </a:r>
            <a:endParaRPr lang="en-US" sz="2000" dirty="0">
              <a:latin typeface="Arial"/>
              <a:ea typeface="Calibri"/>
              <a:cs typeface="Arial"/>
            </a:endParaRPr>
          </a:p>
          <a:p>
            <a:br>
              <a:rPr lang="en-US" sz="2000" dirty="0">
                <a:latin typeface="Arial"/>
                <a:ea typeface="+mn-lt"/>
                <a:cs typeface="Arial"/>
              </a:rPr>
            </a:br>
            <a:r>
              <a:rPr lang="en-US" sz="2000" dirty="0">
                <a:latin typeface="Arial"/>
                <a:ea typeface="+mn-lt"/>
                <a:cs typeface="Arial"/>
              </a:rPr>
              <a:t>2. </a:t>
            </a:r>
            <a:r>
              <a:rPr lang="en-US" sz="2000" dirty="0" err="1">
                <a:latin typeface="Arial"/>
                <a:ea typeface="+mn-lt"/>
                <a:cs typeface="Arial"/>
              </a:rPr>
              <a:t>Gestión</a:t>
            </a:r>
            <a:r>
              <a:rPr lang="en-US" sz="2000" dirty="0">
                <a:latin typeface="Arial"/>
                <a:ea typeface="+mn-lt"/>
                <a:cs typeface="Arial"/>
              </a:rPr>
              <a:t> de Solicitudes y </a:t>
            </a:r>
            <a:r>
              <a:rPr lang="en-US" sz="2000" dirty="0" err="1">
                <a:latin typeface="Arial"/>
                <a:ea typeface="+mn-lt"/>
                <a:cs typeface="Arial"/>
              </a:rPr>
              <a:t>Cotización</a:t>
            </a:r>
            <a:endParaRPr lang="en-US" sz="2000" dirty="0">
              <a:latin typeface="Arial"/>
              <a:ea typeface="+mn-lt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Arial"/>
              </a:rPr>
              <a:t>Registro del </a:t>
            </a:r>
            <a:r>
              <a:rPr lang="en-US" sz="2000" dirty="0" err="1">
                <a:latin typeface="Arial"/>
                <a:ea typeface="+mn-lt"/>
                <a:cs typeface="Arial"/>
              </a:rPr>
              <a:t>servicio</a:t>
            </a:r>
            <a:r>
              <a:rPr lang="en-US" sz="2000" dirty="0">
                <a:latin typeface="Arial"/>
                <a:ea typeface="+mn-lt"/>
                <a:cs typeface="Arial"/>
              </a:rPr>
              <a:t> y </a:t>
            </a:r>
            <a:r>
              <a:rPr lang="en-US" sz="2000" dirty="0" err="1">
                <a:latin typeface="Arial"/>
                <a:ea typeface="+mn-lt"/>
                <a:cs typeface="Arial"/>
              </a:rPr>
              <a:t>determinación</a:t>
            </a:r>
            <a:r>
              <a:rPr lang="en-US" sz="2000" dirty="0">
                <a:latin typeface="Arial"/>
                <a:ea typeface="+mn-lt"/>
                <a:cs typeface="Arial"/>
              </a:rPr>
              <a:t> del </a:t>
            </a:r>
            <a:r>
              <a:rPr lang="en-US" sz="2000" dirty="0" err="1">
                <a:latin typeface="Arial"/>
                <a:ea typeface="+mn-lt"/>
                <a:cs typeface="Arial"/>
              </a:rPr>
              <a:t>costo</a:t>
            </a:r>
            <a:r>
              <a:rPr lang="en-US" sz="2000" dirty="0">
                <a:latin typeface="Arial"/>
                <a:ea typeface="+mn-lt"/>
                <a:cs typeface="Arial"/>
              </a:rPr>
              <a:t> </a:t>
            </a:r>
            <a:r>
              <a:rPr lang="en-US" sz="2000" dirty="0" err="1">
                <a:latin typeface="Arial"/>
                <a:ea typeface="+mn-lt"/>
                <a:cs typeface="Arial"/>
              </a:rPr>
              <a:t>según</a:t>
            </a:r>
            <a:r>
              <a:rPr lang="en-US" sz="2000" dirty="0">
                <a:latin typeface="Arial"/>
                <a:ea typeface="+mn-lt"/>
                <a:cs typeface="Arial"/>
              </a:rPr>
              <a:t> sus </a:t>
            </a:r>
            <a:r>
              <a:rPr lang="en-US" sz="2000" dirty="0" err="1">
                <a:latin typeface="Arial"/>
                <a:ea typeface="+mn-lt"/>
                <a:cs typeface="Arial"/>
              </a:rPr>
              <a:t>características</a:t>
            </a:r>
            <a:r>
              <a:rPr lang="en-US" sz="2000" dirty="0">
                <a:latin typeface="Arial"/>
                <a:ea typeface="+mn-lt"/>
                <a:cs typeface="Arial"/>
              </a:rPr>
              <a:t>.</a:t>
            </a:r>
          </a:p>
          <a:p>
            <a:endParaRPr lang="en-US" sz="2000" dirty="0">
              <a:latin typeface="Arial"/>
              <a:ea typeface="Calibri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Arial"/>
              </a:rPr>
              <a:t>3</a:t>
            </a:r>
            <a:r>
              <a:rPr lang="en-US" sz="20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Planificación y Administración de Recursos Operativos Programación de fechas, asignación de vehículos y personal según disponibilidad, capacidad y estado.</a:t>
            </a:r>
            <a:r>
              <a:rPr lang="en-US" sz="20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latin typeface="Arial"/>
              <a:ea typeface="Calibri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Arial"/>
              </a:rPr>
              <a:t>4. Control y </a:t>
            </a:r>
            <a:r>
              <a:rPr lang="en-US" sz="2000" dirty="0" err="1">
                <a:latin typeface="Arial"/>
                <a:ea typeface="+mn-lt"/>
                <a:cs typeface="Arial"/>
              </a:rPr>
              <a:t>Seguimiento</a:t>
            </a:r>
            <a:r>
              <a:rPr lang="en-US" sz="2000" dirty="0">
                <a:latin typeface="Arial"/>
                <a:ea typeface="+mn-lt"/>
                <a:cs typeface="Arial"/>
              </a:rPr>
              <a:t> del Servicio</a:t>
            </a:r>
          </a:p>
          <a:p>
            <a:r>
              <a:rPr lang="en-US" sz="2000" dirty="0" err="1">
                <a:latin typeface="Arial"/>
                <a:ea typeface="+mn-lt"/>
                <a:cs typeface="Arial"/>
              </a:rPr>
              <a:t>Supervisión</a:t>
            </a:r>
            <a:r>
              <a:rPr lang="en-US" sz="2000" dirty="0">
                <a:latin typeface="Arial"/>
                <a:ea typeface="+mn-lt"/>
                <a:cs typeface="Arial"/>
              </a:rPr>
              <a:t> del </a:t>
            </a:r>
            <a:r>
              <a:rPr lang="en-US" sz="2000" dirty="0" err="1">
                <a:latin typeface="Arial"/>
                <a:ea typeface="+mn-lt"/>
                <a:cs typeface="Arial"/>
              </a:rPr>
              <a:t>traslado</a:t>
            </a:r>
            <a:r>
              <a:rPr lang="en-US" sz="2000" dirty="0">
                <a:latin typeface="Arial"/>
                <a:ea typeface="+mn-lt"/>
                <a:cs typeface="Arial"/>
              </a:rPr>
              <a:t> </a:t>
            </a:r>
            <a:r>
              <a:rPr lang="en-US" sz="2000" dirty="0" err="1">
                <a:latin typeface="Arial"/>
                <a:ea typeface="+mn-lt"/>
                <a:cs typeface="Arial"/>
              </a:rPr>
              <a:t>mediante</a:t>
            </a:r>
            <a:r>
              <a:rPr lang="en-US" sz="2000" dirty="0">
                <a:latin typeface="Arial"/>
                <a:ea typeface="+mn-lt"/>
                <a:cs typeface="Arial"/>
              </a:rPr>
              <a:t> </a:t>
            </a:r>
            <a:r>
              <a:rPr lang="en-US" sz="2000" dirty="0" err="1">
                <a:latin typeface="Arial"/>
                <a:ea typeface="+mn-lt"/>
                <a:cs typeface="Arial"/>
              </a:rPr>
              <a:t>actualización</a:t>
            </a:r>
            <a:r>
              <a:rPr lang="en-US" sz="2000" dirty="0">
                <a:latin typeface="Arial"/>
                <a:ea typeface="+mn-lt"/>
                <a:cs typeface="Arial"/>
              </a:rPr>
              <a:t> de </a:t>
            </a:r>
            <a:r>
              <a:rPr lang="en-US" sz="2000" dirty="0" err="1">
                <a:latin typeface="Arial"/>
                <a:ea typeface="+mn-lt"/>
                <a:cs typeface="Arial"/>
              </a:rPr>
              <a:t>estados</a:t>
            </a:r>
            <a:r>
              <a:rPr lang="en-US" sz="2000" dirty="0">
                <a:latin typeface="Arial"/>
                <a:ea typeface="+mn-lt"/>
                <a:cs typeface="Arial"/>
              </a:rPr>
              <a:t>, </a:t>
            </a:r>
            <a:r>
              <a:rPr lang="en-US" sz="2000" dirty="0" err="1">
                <a:latin typeface="Arial"/>
                <a:ea typeface="+mn-lt"/>
                <a:cs typeface="Arial"/>
              </a:rPr>
              <a:t>registro</a:t>
            </a:r>
            <a:r>
              <a:rPr lang="en-US" sz="2000" dirty="0">
                <a:latin typeface="Arial"/>
                <a:ea typeface="+mn-lt"/>
                <a:cs typeface="Arial"/>
              </a:rPr>
              <a:t> de </a:t>
            </a:r>
            <a:r>
              <a:rPr lang="en-US" sz="2000" dirty="0" err="1">
                <a:latin typeface="Arial"/>
                <a:ea typeface="+mn-lt"/>
                <a:cs typeface="Arial"/>
              </a:rPr>
              <a:t>tiempos</a:t>
            </a:r>
            <a:r>
              <a:rPr lang="en-US" sz="2000" dirty="0">
                <a:latin typeface="Arial"/>
                <a:ea typeface="+mn-lt"/>
                <a:cs typeface="Arial"/>
              </a:rPr>
              <a:t> y </a:t>
            </a:r>
            <a:r>
              <a:rPr lang="en-US" sz="2000" dirty="0" err="1">
                <a:latin typeface="Arial"/>
                <a:ea typeface="+mn-lt"/>
                <a:cs typeface="Arial"/>
              </a:rPr>
              <a:t>gestión</a:t>
            </a:r>
            <a:r>
              <a:rPr lang="en-US" sz="2000" dirty="0">
                <a:latin typeface="Arial"/>
                <a:ea typeface="+mn-lt"/>
                <a:cs typeface="Arial"/>
              </a:rPr>
              <a:t> de </a:t>
            </a:r>
            <a:r>
              <a:rPr lang="en-US" sz="2000" dirty="0" err="1">
                <a:latin typeface="Arial"/>
                <a:ea typeface="+mn-lt"/>
                <a:cs typeface="Arial"/>
              </a:rPr>
              <a:t>novedades</a:t>
            </a:r>
            <a:r>
              <a:rPr lang="en-US" sz="2000" dirty="0">
                <a:latin typeface="Arial"/>
                <a:ea typeface="+mn-lt"/>
                <a:cs typeface="Arial"/>
              </a:rPr>
              <a:t>.</a:t>
            </a:r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0988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01952-6F84-8644-7615-D1A5C0C5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84243-5EB5-266E-7633-328F65D89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CO" sz="4800" dirty="0">
                <a:solidFill>
                  <a:schemeClr val="bg1"/>
                </a:solidFill>
                <a:latin typeface="Arial"/>
                <a:ea typeface="+mj-lt"/>
                <a:cs typeface="+mj-lt"/>
              </a:rPr>
              <a:t>Alcance del proyecto </a:t>
            </a:r>
            <a:endParaRPr lang="en-US" sz="480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A27EB-FC6B-D3F6-1887-0905482442C0}"/>
              </a:ext>
            </a:extLst>
          </p:cNvPr>
          <p:cNvSpPr txBox="1"/>
          <p:nvPr/>
        </p:nvSpPr>
        <p:spPr>
          <a:xfrm>
            <a:off x="367393" y="1683291"/>
            <a:ext cx="1182460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419" sz="2800" dirty="0">
                <a:latin typeface="Arial"/>
                <a:ea typeface="+mn-lt"/>
                <a:cs typeface="Arial"/>
              </a:rPr>
              <a:t>El proyecto consiste en crear una herramienta digital para organizar todo el proceso de mudanzas de principio a fin. El sistema se encarga de dar precios automáticos, agendar las fechas según lo que esté libre y asignar el camión y los ayudantes para cada trabajo.</a:t>
            </a:r>
            <a:endParaRPr lang="en-US" sz="2800">
              <a:latin typeface="Arial"/>
              <a:ea typeface="+mn-lt"/>
              <a:cs typeface="Arial"/>
            </a:endParaRPr>
          </a:p>
          <a:p>
            <a:endParaRPr lang="es-419" sz="2800" dirty="0">
              <a:latin typeface="Arial"/>
              <a:ea typeface="Calibri"/>
              <a:cs typeface="Arial"/>
            </a:endParaRPr>
          </a:p>
          <a:p>
            <a:r>
              <a:rPr lang="es-419" sz="2800" dirty="0">
                <a:latin typeface="Arial"/>
                <a:ea typeface="+mn-lt"/>
                <a:cs typeface="Arial"/>
              </a:rPr>
              <a:t>Además, permite ver en qué estado se encuentra cada mudanza en tiempo real, desde que se pide hasta que se entrega. El objetivo es cambiar los cuadernos y las anotaciones manuales por un control digital que evite errores y retrasos.</a:t>
            </a:r>
            <a:endParaRPr lang="es-419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667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989E6-CD1D-4C38-BC57-060C70F61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ADC5E1-D4F6-4E37-8949-51C936E26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088"/>
            <a:ext cx="12192000" cy="521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88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A901D-E9F4-4E54-872F-4580D7D6E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64" y="141389"/>
            <a:ext cx="10515600" cy="1325563"/>
          </a:xfrm>
        </p:spPr>
        <p:txBody>
          <a:bodyPr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4976358-8DE1-7314-326E-FFC7D10F0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142"/>
            <a:ext cx="12192000" cy="546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25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8FFA8-DA09-43D1-8A69-4E0C6940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1061C0-F8C7-4E06-AE95-1F9FDF3FB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36" y="1578240"/>
            <a:ext cx="11127463" cy="527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73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3602</TotalTime>
  <Words>593</Words>
  <Application>Microsoft Office PowerPoint</Application>
  <PresentationFormat>Panorámica</PresentationFormat>
  <Paragraphs>49</Paragraphs>
  <Slides>13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Work Sans Medium</vt:lpstr>
      <vt:lpstr>Tema de Office</vt:lpstr>
      <vt:lpstr>Presentación de PowerPoint</vt:lpstr>
      <vt:lpstr>Presentación de PowerPoint</vt:lpstr>
      <vt:lpstr>Planteamiento del problema</vt:lpstr>
      <vt:lpstr>Presentación de PowerPoint</vt:lpstr>
      <vt:lpstr>Presentación de PowerPoint</vt:lpstr>
      <vt:lpstr>Presentación de PowerPoint</vt:lpstr>
      <vt:lpstr>Justificación</vt:lpstr>
      <vt:lpstr>MODULOS   </vt:lpstr>
      <vt:lpstr>Alcance del proyecto </vt:lpstr>
      <vt:lpstr>Presentación de PowerPoint</vt:lpstr>
      <vt:lpstr>BizAgi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jannys limas</cp:lastModifiedBy>
  <cp:revision>337</cp:revision>
  <dcterms:created xsi:type="dcterms:W3CDTF">2020-10-01T23:51:28Z</dcterms:created>
  <dcterms:modified xsi:type="dcterms:W3CDTF">2026-04-10T03:19:09Z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